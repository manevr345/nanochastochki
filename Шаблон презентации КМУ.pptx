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797675" cy="9926625"/>
  <p:embeddedFontLst>
    <p:embeddedFont>
      <p:font typeface="Golos Text"/>
      <p:regular r:id="rId29"/>
      <p:bold r:id="rId30"/>
    </p:embeddedFont>
    <p:embeddedFont>
      <p:font typeface="Golos Text Medium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Владислав Осадченко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olosTex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losTextMedium-regular.fntdata"/><Relationship Id="rId30" Type="http://schemas.openxmlformats.org/officeDocument/2006/relationships/font" Target="fonts/GolosTex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GolosText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31T20:21:26.547">
    <p:pos x="4643" y="678"/>
    <p:text>Вместо нейронной фотки на слайде 4, поставлю фотку от Алёны.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31T22:12:16.609">
    <p:pos x="6000" y="0"/>
    <p:text>Завтра сделать фотку с моими товарищами с иммитированием бурной нейронной деятельностью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bfb596d1_2_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3bfb596d1_2_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bfb596d1_2_1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3bfb596d1_2_1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19758419_4_49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419758419_4_49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bfb596d1_2_2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3bfb596d1_2_2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bfb596d1_2_4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3bfb596d1_2_4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f83e5a03_0_28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3f83e5a03_0_28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f83e5a03_0_38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3f83e5a03_0_38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f83e5a03_0_95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3f83e5a03_0_95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3f83e5a03_0_95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419758419_4_2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419758419_4_2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419758419_4_2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419758419_4_1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419758419_4_1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419758419_4_10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3bfb596d1_2_3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3bfb596d1_2_3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3f83e5a03_0_8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3f83e5a03_0_8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3f83e5a03_0_18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3f83e5a03_0_18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419758419_4_19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419758419_4_19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419758419_4_19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19758419_4_25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419758419_4_25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419758419_4_25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419758419_4_31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419758419_4_31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419758419_4_31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419758419_4_66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419758419_4_66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419758419_4_66:notes"/>
          <p:cNvSpPr txBox="1"/>
          <p:nvPr>
            <p:ph idx="12" type="sldNum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32473"/>
              </a:buClr>
              <a:buSzPts val="4400"/>
              <a:buFont typeface="Arial"/>
              <a:buNone/>
              <a:defRPr>
                <a:solidFill>
                  <a:srgbClr val="2324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13.jpg"/><Relationship Id="rId6" Type="http://schemas.openxmlformats.org/officeDocument/2006/relationships/image" Target="../media/image9.jp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Relationship Id="rId5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1.gif"/><Relationship Id="rId5" Type="http://schemas.openxmlformats.org/officeDocument/2006/relationships/image" Target="../media/image2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hyperlink" Target="http://drive.google.com/file/d/1HdAmwnKNHYDBQ9wrZQZCqA0_xW4V-dY-/view" TargetMode="External"/><Relationship Id="rId5" Type="http://schemas.openxmlformats.org/officeDocument/2006/relationships/image" Target="../media/image22.jpg"/><Relationship Id="rId6" Type="http://schemas.openxmlformats.org/officeDocument/2006/relationships/hyperlink" Target="http://drive.google.com/file/d/1vX2EjJZ5nRd0SaP5udyHGyh7HkWxCbYA/view" TargetMode="External"/><Relationship Id="rId7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jp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"/>
            <a:ext cx="12192000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0448" y="2249336"/>
            <a:ext cx="9511106" cy="141477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55575" y="4983550"/>
            <a:ext cx="103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Авторы: Осадченко В.С, Зозуля А. В., Тимофеев А. П, Гетун П.М.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078400" y="5733250"/>
            <a:ext cx="803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Сорокина Алёна Борисовна,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 3-его курса бакалавриата МНОЦ “Физики наноструктур”</a:t>
            </a:r>
            <a:endParaRPr/>
          </a:p>
        </p:txBody>
      </p:sp>
      <p:cxnSp>
        <p:nvCxnSpPr>
          <p:cNvPr id="68" name="Google Shape;68;p14"/>
          <p:cNvCxnSpPr/>
          <p:nvPr/>
        </p:nvCxnSpPr>
        <p:spPr>
          <a:xfrm>
            <a:off x="2603612" y="5589240"/>
            <a:ext cx="6984776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9" name="Google Shape;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9071" y="552810"/>
            <a:ext cx="1693858" cy="1289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6820" y="4070683"/>
            <a:ext cx="3558360" cy="53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551383" y="1268760"/>
            <a:ext cx="110256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ru-RU" sz="2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Введение (вступительное слово, плавная «подводка» к сути).</a:t>
            </a:r>
            <a:endParaRPr/>
          </a:p>
          <a:p>
            <a:pPr indent="-368300" lvl="0" marL="45720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Обозначение проблемы проектной работы.</a:t>
            </a:r>
            <a:endParaRPr/>
          </a:p>
          <a:p>
            <a:pPr indent="-4572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Цели и задачи</a:t>
            </a:r>
            <a:endParaRPr/>
          </a:p>
          <a:p>
            <a:pPr indent="-4572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ru-RU" sz="2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Решение проблемы (основная и самая важная часть презентации).</a:t>
            </a:r>
            <a:endParaRPr/>
          </a:p>
          <a:p>
            <a:pPr indent="-4572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ru-RU" sz="2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Заключение (повторение основных мыслей презентации и обязательно призыв к действию).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551383" y="467961"/>
            <a:ext cx="110256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4E25A9"/>
                </a:solidFill>
                <a:latin typeface="Arial"/>
                <a:ea typeface="Arial"/>
                <a:cs typeface="Arial"/>
                <a:sym typeface="Arial"/>
              </a:rPr>
              <a:t>СТРУКТУРА ПРЕЗЕНТАЦИИ 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0" cy="82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73" y="2608523"/>
            <a:ext cx="153841" cy="15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619172" y="3514257"/>
            <a:ext cx="153850" cy="1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73" y="4772410"/>
            <a:ext cx="153841" cy="15384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583200" y="1087385"/>
            <a:ext cx="11025600" cy="1108200"/>
          </a:xfrm>
          <a:prstGeom prst="rect">
            <a:avLst/>
          </a:prstGeom>
          <a:noFill/>
          <a:ln cap="flat" cmpd="sng" w="28575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наши дни изучение свойств нано- и микроструктур </a:t>
            </a:r>
            <a:r>
              <a:rPr b="1"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критически важно. Развитие этой сферы является </a:t>
            </a:r>
            <a:r>
              <a:rPr b="1"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приоритетным</a:t>
            </a:r>
            <a:r>
              <a:rPr b="1"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направлением для мировой и отечественной науки.</a:t>
            </a:r>
            <a:endParaRPr b="1"/>
          </a:p>
        </p:txBody>
      </p:sp>
      <p:sp>
        <p:nvSpPr>
          <p:cNvPr id="86" name="Google Shape;86;p16"/>
          <p:cNvSpPr txBox="1"/>
          <p:nvPr/>
        </p:nvSpPr>
        <p:spPr>
          <a:xfrm>
            <a:off x="583200" y="319811"/>
            <a:ext cx="1102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Введение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843468" y="2449046"/>
            <a:ext cx="10801200" cy="29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Развитие этой сферы позволяет создавать материалы с принципиально новыми свойствами.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На основе фундаментальных знаний, полученных в этой отрасли в недалеком будущем возможно создание устройств и систем с широкими возможностями для опто- и  наноэлектроники, измерительной техники.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Интерес к этой области связан с появлением новых научных проблем и неизученных физических явлений.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30571"/>
            <a:ext cx="12192000" cy="82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583200" y="319811"/>
            <a:ext cx="11025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Обозначение проблемы проектной работы.</a:t>
            </a:r>
            <a:endParaRPr sz="3200">
              <a:solidFill>
                <a:srgbClr val="4E25A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E25A9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15600" y="1076625"/>
            <a:ext cx="67395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В лаборатории ИТМО наш научный руководитель 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при изучении движения заряженных частиц в однородном магнитном поле столкнулась с проблемой: как на основе 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фото- и видеоматериалов, полученных в ходе экспериментов, 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извлекать данные о физических характеристиках частиц 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(размер, траектория и др.). Потребовалось разработать эффективное, автоматизированное решение для извлечения и сохранения большого массива данных, а также для их последующего анализа.</a:t>
            </a:r>
            <a:r>
              <a:rPr lang="ru-RU" sz="1600"/>
              <a:t> </a:t>
            </a:r>
            <a:endParaRPr sz="1600"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0800" y="1076624"/>
            <a:ext cx="4328660" cy="432866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7"/>
          <p:cNvSpPr txBox="1"/>
          <p:nvPr/>
        </p:nvSpPr>
        <p:spPr>
          <a:xfrm>
            <a:off x="451900" y="3675450"/>
            <a:ext cx="6666900" cy="19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</a:rPr>
              <a:t>Программный код, созданный нашей командой на основе методов компьютерного зрения и искусственного интелекта, способен эффективно анализировать эксперементальные данные, обеспечивать однозначное определение координат частиц. Результаты работы будут полезны для </a:t>
            </a:r>
            <a:r>
              <a:rPr lang="ru-RU" sz="1700">
                <a:solidFill>
                  <a:schemeClr val="dk1"/>
                </a:solidFill>
              </a:rPr>
              <a:t>лабораторий</a:t>
            </a:r>
            <a:r>
              <a:rPr lang="ru-RU" sz="1700">
                <a:solidFill>
                  <a:schemeClr val="dk1"/>
                </a:solidFill>
              </a:rPr>
              <a:t>, занимающимися как задачами в области физики точечных объектов, так и в смежных областях.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438150" y="1339075"/>
            <a:ext cx="11315700" cy="230880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Для решения проблемы проекта мы поставили себе цель: </a:t>
            </a:r>
            <a:r>
              <a:rPr b="1" lang="ru-RU" sz="2400">
                <a:solidFill>
                  <a:srgbClr val="1A1A1A"/>
                </a:solidFill>
                <a:highlight>
                  <a:srgbClr val="FFFFFF"/>
                </a:highlight>
              </a:rPr>
              <a:t>создание программного инструмента, способного с помощью методов машинного зрения и технологий искусственного интеллекта обнаруживать и обрабатывать фото- и видеоматериалы, фиксирующие движение точечных объектов, и обеспечивать однозначное определение координат частиц в пространстве с заданной точностью.</a:t>
            </a:r>
            <a:endParaRPr b="1" sz="24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83200" y="322286"/>
            <a:ext cx="1102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Цель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843468" y="2449046"/>
            <a:ext cx="108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438150" y="3926613"/>
            <a:ext cx="6057900" cy="93420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Для достижения поставленной цели мы сформулировали несколько задач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623" y="1669798"/>
            <a:ext cx="153841" cy="15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689622" y="2153832"/>
            <a:ext cx="153850" cy="1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623" y="3029975"/>
            <a:ext cx="153850" cy="1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583200" y="319811"/>
            <a:ext cx="1102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Задачи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843475" y="1295227"/>
            <a:ext cx="108012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623" y="4940373"/>
            <a:ext cx="153841" cy="15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623" y="3850198"/>
            <a:ext cx="153841" cy="15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475" y="1259988"/>
            <a:ext cx="9422664" cy="390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4EA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583200" y="319811"/>
            <a:ext cx="1102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0" title="Cluster Diagram Example_ Employment (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75" y="352900"/>
            <a:ext cx="9782852" cy="6152200"/>
          </a:xfrm>
          <a:prstGeom prst="rect">
            <a:avLst/>
          </a:prstGeom>
          <a:noFill/>
          <a:ln cap="flat" cmpd="sng" w="76200">
            <a:solidFill>
              <a:srgbClr val="2324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583200" y="319800"/>
            <a:ext cx="1114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Программа для обнаружения частиц и получения данных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516600" y="1199400"/>
            <a:ext cx="5785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>
                <a:solidFill>
                  <a:schemeClr val="dk1"/>
                </a:solidFill>
              </a:rPr>
              <a:t>Обнаружение частицы предполагает вычисления ее центра (поскокольку размерами частиц мы пренебречь не можем) и нахождение его координат в системе.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>
                <a:solidFill>
                  <a:schemeClr val="dk1"/>
                </a:solidFill>
              </a:rPr>
              <a:t>Чтобы найти центр фигуры (центр масс фигур )необходимо разбить его на малые части (на изображении самая маленькая единица - это пиксель). В библиотеке OpenCV есть решение.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463" y="1346029"/>
            <a:ext cx="2252275" cy="2548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9625375" y="4160125"/>
            <a:ext cx="6042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2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450150" y="4335838"/>
            <a:ext cx="271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700">
                <a:solidFill>
                  <a:schemeClr val="dk2"/>
                </a:solidFill>
              </a:rPr>
              <a:t>Одна из тысяч частиц</a:t>
            </a:r>
            <a:endParaRPr i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380675" y="319771"/>
            <a:ext cx="11228100" cy="120060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В процессе работы мы столкнулись с вопросом: нужно ли представлять частицу как однородный объект или же необходимо учитывать свечение, исходящее от частиц.</a:t>
            </a:r>
            <a:endParaRPr sz="2400"/>
          </a:p>
        </p:txBody>
      </p:sp>
      <p:sp>
        <p:nvSpPr>
          <p:cNvPr id="141" name="Google Shape;141;p22"/>
          <p:cNvSpPr txBox="1"/>
          <p:nvPr/>
        </p:nvSpPr>
        <p:spPr>
          <a:xfrm>
            <a:off x="843468" y="2449046"/>
            <a:ext cx="108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2"/>
          <p:cNvCxnSpPr>
            <a:endCxn id="142" idx="0"/>
          </p:cNvCxnSpPr>
          <p:nvPr/>
        </p:nvCxnSpPr>
        <p:spPr>
          <a:xfrm>
            <a:off x="6090601" y="2120671"/>
            <a:ext cx="5400" cy="3909900"/>
          </a:xfrm>
          <a:prstGeom prst="straightConnector1">
            <a:avLst/>
          </a:prstGeom>
          <a:noFill/>
          <a:ln cap="flat" cmpd="sng" w="76200">
            <a:solidFill>
              <a:srgbClr val="4E25A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7775" y="5347763"/>
            <a:ext cx="701601" cy="7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583200" y="2270000"/>
            <a:ext cx="45618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443425" y="2298325"/>
            <a:ext cx="56745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Char char="●"/>
            </a:pPr>
            <a:r>
              <a:rPr lang="ru-RU" sz="1700">
                <a:solidFill>
                  <a:srgbClr val="1A1A1A"/>
                </a:solidFill>
              </a:rPr>
              <a:t>Поиск частиц осуществляется с использованием встроенных функций биб. OpenCV, реализующие методы компьютерного моделирования. (т)</a:t>
            </a:r>
            <a:endParaRPr sz="1700">
              <a:solidFill>
                <a:srgbClr val="1A1A1A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Char char="●"/>
            </a:pPr>
            <a:r>
              <a:rPr lang="ru-RU" sz="1700">
                <a:solidFill>
                  <a:srgbClr val="1A1A1A"/>
                </a:solidFill>
              </a:rPr>
              <a:t>Негативный эффект от свечения частиц можно нивелировать предобработкой</a:t>
            </a:r>
            <a:endParaRPr sz="1700">
              <a:solidFill>
                <a:srgbClr val="1A1A1A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Char char="●"/>
            </a:pPr>
            <a:r>
              <a:rPr lang="ru-RU" sz="1700">
                <a:solidFill>
                  <a:srgbClr val="1A1A1A"/>
                </a:solidFill>
              </a:rPr>
              <a:t>‘Сила интенсивности’ пикселя равна его цветовому коду в двоичном формате от 0, 1</a:t>
            </a:r>
            <a:endParaRPr sz="1700">
              <a:solidFill>
                <a:srgbClr val="1A1A1A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80675" y="2363988"/>
            <a:ext cx="53625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Поиск частиц осуществляется при помощи функций OpenCV. Центр находится по формулам, и  реализация нахождения происходит с помощью стандартных функций Python.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“Сила интенсивности” пикселя равна его цветовому коду в сером формате от 0 до 255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050" y="4382738"/>
            <a:ext cx="36671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8580" y="5479587"/>
            <a:ext cx="486696" cy="43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1151050" y="1682775"/>
            <a:ext cx="3897300" cy="4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Частица неоднородна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7409913" y="1690350"/>
            <a:ext cx="3897300" cy="4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Частица однородна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003025" y="2402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75088" y="4493991"/>
            <a:ext cx="2654125" cy="998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77" y="1553877"/>
            <a:ext cx="153850" cy="1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619172" y="3163157"/>
            <a:ext cx="153850" cy="1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73" y="4772410"/>
            <a:ext cx="153841" cy="15384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583200" y="319811"/>
            <a:ext cx="1102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Устройство программы</a:t>
            </a:r>
            <a:endParaRPr sz="3200">
              <a:solidFill>
                <a:srgbClr val="4E25A9"/>
              </a:solidFill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936988" y="1353725"/>
            <a:ext cx="515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UcPeriod"/>
            </a:pPr>
            <a:r>
              <a:rPr lang="ru-RU" sz="2400">
                <a:solidFill>
                  <a:schemeClr val="dk1"/>
                </a:solidFill>
              </a:rPr>
              <a:t>Предобработка (размытие,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преобразование изображения в формат Gray и Binary)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937000" y="2997750"/>
            <a:ext cx="48213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II. Поиск контуров частиц.    Определение центра контура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2008075" y="3825200"/>
            <a:ext cx="916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937000" y="4159350"/>
            <a:ext cx="49644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I</a:t>
            </a:r>
            <a:r>
              <a:rPr lang="ru-RU" sz="2400">
                <a:solidFill>
                  <a:schemeClr val="dk1"/>
                </a:solidFill>
              </a:rPr>
              <a:t>II. Индексирование. Определение трека частицы. Запись данных частиц в таблицу формата .csv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8300" y="1170717"/>
            <a:ext cx="2482627" cy="1396472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8" name="Google Shape;168;p23"/>
          <p:cNvCxnSpPr/>
          <p:nvPr/>
        </p:nvCxnSpPr>
        <p:spPr>
          <a:xfrm flipH="1" rot="10800000">
            <a:off x="8505487" y="1947438"/>
            <a:ext cx="1008600" cy="2100"/>
          </a:xfrm>
          <a:prstGeom prst="straightConnector1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9" name="Google Shape;16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96750" y="1170725"/>
            <a:ext cx="2482613" cy="1396475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1175" y="2665200"/>
            <a:ext cx="4229537" cy="1527600"/>
          </a:xfrm>
          <a:prstGeom prst="rect">
            <a:avLst/>
          </a:prstGeom>
          <a:noFill/>
          <a:ln cap="flat" cmpd="sng" w="28575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24950" y="4347886"/>
            <a:ext cx="3121980" cy="152760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Индиксирование. Выходные данные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609600" y="1600200"/>
            <a:ext cx="54864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 Функционал основан на сравнении центров новых обнаруженных объектов с сохранёнными координатами из предыдущего кадра. 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Для каждого нового объекта он ищет ближайший старый центр в радиусе 50 пикселей, и если находит — присваивает ему тот же идентификатор. В противном случае объекту выдаётся новый ID.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0F1115"/>
                </a:solidFill>
                <a:highlight>
                  <a:srgbClr val="FFFFFF"/>
                </a:highlight>
              </a:rPr>
              <a:t> В конце трекер очищает словарь, оставляя только те ID, которые были подтверждены на текущем кадре, что позволяет забывать исчезнувшие объекты и не копить старые центры.</a:t>
            </a:r>
            <a:endParaRPr sz="17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1700">
                <a:solidFill>
                  <a:schemeClr val="dk1"/>
                </a:solidFill>
              </a:rPr>
              <a:t>С помощью библиотеки pandas данные о частицах на каждом кадре записываются в таблицу формата .csv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775" y="1199725"/>
            <a:ext cx="3145999" cy="460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7178375" y="6005125"/>
            <a:ext cx="3850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700">
                <a:solidFill>
                  <a:schemeClr val="dk2"/>
                </a:solidFill>
              </a:rPr>
              <a:t>Таблица с данными</a:t>
            </a:r>
            <a:endParaRPr i="1" sz="1700">
              <a:solidFill>
                <a:schemeClr val="dk2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002" y="1701752"/>
            <a:ext cx="153850" cy="1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002" y="2814277"/>
            <a:ext cx="153850" cy="1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002" y="4181952"/>
            <a:ext cx="153850" cy="1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002" y="5610577"/>
            <a:ext cx="153850" cy="1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Конечный результат</a:t>
            </a:r>
            <a:endParaRPr/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1600188"/>
            <a:ext cx="10601325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1148825" y="5464125"/>
            <a:ext cx="95313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300">
                <a:solidFill>
                  <a:schemeClr val="dk2"/>
                </a:solidFill>
              </a:rPr>
              <a:t>казалось бы, хороший результат?</a:t>
            </a:r>
            <a:endParaRPr i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6277950" y="401950"/>
            <a:ext cx="5537700" cy="23889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Но качество видеоматериала может быть посредственным(эксперемент может проводиться не в абсолютной темноте, в кадр может попадать что-то цветное, не являющееся частицей)</a:t>
            </a:r>
            <a:endParaRPr sz="2400"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25" y="242814"/>
            <a:ext cx="5537573" cy="311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3429000"/>
            <a:ext cx="5901600" cy="33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10099"/>
            <a:ext cx="5680891" cy="319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/>
        </p:nvSpPr>
        <p:spPr>
          <a:xfrm>
            <a:off x="583200" y="319811"/>
            <a:ext cx="1102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4E25A9"/>
                </a:solidFill>
              </a:rPr>
              <a:t>Поиск области интереса</a:t>
            </a:r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7"/>
          <p:cNvCxnSpPr>
            <a:endCxn id="208" idx="0"/>
          </p:cNvCxnSpPr>
          <p:nvPr/>
        </p:nvCxnSpPr>
        <p:spPr>
          <a:xfrm>
            <a:off x="6075601" y="2709871"/>
            <a:ext cx="20400" cy="3320700"/>
          </a:xfrm>
          <a:prstGeom prst="straightConnector1">
            <a:avLst/>
          </a:prstGeom>
          <a:noFill/>
          <a:ln cap="flat" cmpd="sng" w="76200">
            <a:solidFill>
              <a:srgbClr val="4E25A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7"/>
          <p:cNvSpPr txBox="1"/>
          <p:nvPr/>
        </p:nvSpPr>
        <p:spPr>
          <a:xfrm>
            <a:off x="734275" y="2966825"/>
            <a:ext cx="4863900" cy="23865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Используется только в случае, если пользователь знает область интереса с частицами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Работа основана функции Opencv cv2.selectroi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Пользователь выделяет область, затем программа начинает работу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6573275" y="2966825"/>
            <a:ext cx="5035500" cy="238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Используется в случае, если пользователь точно не знает, где будет область интереса или она меняется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Сверточная нейронная сеть с архитектурой YOLO,  обученная на 750 датасетах выделяет область с частицами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-RU" sz="1700">
                <a:solidFill>
                  <a:schemeClr val="dk1"/>
                </a:solidFill>
              </a:rPr>
              <a:t>Никаких действий от пользователя не требуется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571575" y="2073488"/>
            <a:ext cx="4799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Ручная настройка ROI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6971400" y="2126600"/>
            <a:ext cx="463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Поиск ROI с помощью CNN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274925" y="1003025"/>
            <a:ext cx="11631600" cy="928800"/>
          </a:xfrm>
          <a:prstGeom prst="rect">
            <a:avLst/>
          </a:prstGeom>
          <a:noFill/>
          <a:ln cap="flat" cmpd="sng" w="38100">
            <a:solidFill>
              <a:srgbClr val="2324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>
                <a:solidFill>
                  <a:schemeClr val="dk1"/>
                </a:solidFill>
              </a:rPr>
              <a:t>Главная роль: это оптимизация программы (уменьшение объема обрабатываемых      данных) и предотвращение обработки свечения, исходящего не от частиц.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/>
        </p:nvSpPr>
        <p:spPr>
          <a:xfrm>
            <a:off x="843468" y="2449046"/>
            <a:ext cx="108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28"/>
          <p:cNvCxnSpPr>
            <a:endCxn id="220" idx="0"/>
          </p:cNvCxnSpPr>
          <p:nvPr/>
        </p:nvCxnSpPr>
        <p:spPr>
          <a:xfrm>
            <a:off x="6090601" y="36271"/>
            <a:ext cx="5400" cy="5994300"/>
          </a:xfrm>
          <a:prstGeom prst="straightConnector1">
            <a:avLst/>
          </a:prstGeom>
          <a:noFill/>
          <a:ln cap="flat" cmpd="sng" w="76200">
            <a:solidFill>
              <a:srgbClr val="4E25A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8"/>
          <p:cNvSpPr txBox="1"/>
          <p:nvPr/>
        </p:nvSpPr>
        <p:spPr>
          <a:xfrm>
            <a:off x="456175" y="247700"/>
            <a:ext cx="5000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Ручная настройка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7042300" y="262850"/>
            <a:ext cx="42900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 CNN</a:t>
            </a:r>
            <a:endParaRPr sz="24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24" name="Google Shape;224;p28" title="outpu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76" y="1851846"/>
            <a:ext cx="5278090" cy="29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 title="output_cnn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525" y="1915121"/>
            <a:ext cx="5053152" cy="2842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/>
        </p:nvSpPr>
        <p:spPr>
          <a:xfrm>
            <a:off x="843468" y="2449046"/>
            <a:ext cx="108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0571"/>
            <a:ext cx="12192002" cy="827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 title="output_cnn.avi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4675" y="1489271"/>
            <a:ext cx="5278090" cy="29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 title="output.avi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675" y="1489271"/>
            <a:ext cx="5278090" cy="29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609600" y="138163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54" name="Google Shape;254;p32"/>
          <p:cNvSpPr txBox="1"/>
          <p:nvPr>
            <p:ph idx="1" type="body"/>
          </p:nvPr>
        </p:nvSpPr>
        <p:spPr>
          <a:xfrm>
            <a:off x="609600" y="1397000"/>
            <a:ext cx="11394600" cy="51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ru-RU">
                <a:solidFill>
                  <a:schemeClr val="dk1"/>
                </a:solidFill>
              </a:rPr>
              <a:t>Наша команда разработала программный инструмент,  способный детектировать, индифицировать частицы, восстанавливать треки точечных объектов, а также выделять область поиска (ручная и машинная настройка).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>
                <a:solidFill>
                  <a:schemeClr val="dk1"/>
                </a:solidFill>
              </a:rPr>
              <a:t>Многие гипотезы, поставленные нашей командой, не подтвердились, но  в последствии мы каждый раз выходили на правильный путь.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>
                <a:solidFill>
                  <a:schemeClr val="dk1"/>
                </a:solidFill>
              </a:rPr>
              <a:t>В перспективе мы ставим перед собой задачу создания удобного пользовательского интерфейса, дальнейшую оптимизацию программы      и адаптирования продукта для детектирования других точечных объектов: звезд, БПЛА и др.)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542150"/>
            <a:ext cx="11645901" cy="4822150"/>
          </a:xfrm>
          <a:prstGeom prst="rect">
            <a:avLst/>
          </a:prstGeom>
          <a:noFill/>
          <a:ln cap="flat" cmpd="sng" w="38100">
            <a:solidFill>
              <a:srgbClr val="4E25A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33"/>
          <p:cNvSpPr txBox="1"/>
          <p:nvPr/>
        </p:nvSpPr>
        <p:spPr>
          <a:xfrm>
            <a:off x="2669550" y="5554975"/>
            <a:ext cx="6984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700">
                <a:solidFill>
                  <a:schemeClr val="dk2"/>
                </a:solidFill>
              </a:rPr>
              <a:t>Наши наработки в области звездного детектирования</a:t>
            </a:r>
            <a:endParaRPr i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8344" y="-21922"/>
            <a:ext cx="12288688" cy="690184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 txBox="1"/>
          <p:nvPr/>
        </p:nvSpPr>
        <p:spPr>
          <a:xfrm>
            <a:off x="2963572" y="777106"/>
            <a:ext cx="62648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4707992" y="5896228"/>
            <a:ext cx="2776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Санкт-Петербург, 2026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5310" y="2160909"/>
            <a:ext cx="4681380" cy="136130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3954132" y="4445723"/>
            <a:ext cx="42837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ФИО, ученая степень (при наличии)</a:t>
            </a:r>
            <a:b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e-mail/Telegram</a:t>
            </a:r>
            <a:endParaRPr sz="18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8344" y="-21922"/>
            <a:ext cx="12288688" cy="690184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2963572" y="777106"/>
            <a:ext cx="62648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/>
          </a:p>
        </p:txBody>
      </p:sp>
      <p:sp>
        <p:nvSpPr>
          <p:cNvPr id="279" name="Google Shape;279;p35"/>
          <p:cNvSpPr txBox="1"/>
          <p:nvPr/>
        </p:nvSpPr>
        <p:spPr>
          <a:xfrm>
            <a:off x="4707992" y="5896228"/>
            <a:ext cx="2776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Санкт-Петербург, 2026</a:t>
            </a:r>
            <a:endParaRPr/>
          </a:p>
        </p:txBody>
      </p:sp>
      <p:pic>
        <p:nvPicPr>
          <p:cNvPr id="280" name="Google Shape;28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5310" y="1995686"/>
            <a:ext cx="4681380" cy="136130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 txBox="1"/>
          <p:nvPr/>
        </p:nvSpPr>
        <p:spPr>
          <a:xfrm>
            <a:off x="3954132" y="4157794"/>
            <a:ext cx="4283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ФИО, ученая степень (при наличии)</a:t>
            </a:r>
            <a:endParaRPr/>
          </a:p>
        </p:txBody>
      </p:sp>
      <p:sp>
        <p:nvSpPr>
          <p:cNvPr id="282" name="Google Shape;282;p35"/>
          <p:cNvSpPr/>
          <p:nvPr/>
        </p:nvSpPr>
        <p:spPr>
          <a:xfrm>
            <a:off x="5607756" y="4723433"/>
            <a:ext cx="976488" cy="976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